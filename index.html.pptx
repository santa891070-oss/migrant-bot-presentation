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0" cy="5943600"/>
          </a:xfrm>
          <a:prstGeom prst="line">
            <a:avLst/>
          </a:prstGeom>
          <a:noFill/>
          <a:ln w="9525">
            <a:solidFill>
              <a:srgbClr val="C49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ЦИФРОВАЯ ИНФРАСТРУКТУРА ЛЕГАЛИЗАЦИИ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Migrant Bot</a:t>
            </a:r>
            <a:endParaRPr lang="en-US" sz="7200" dirty="0"/>
          </a:p>
          <a:p>
            <a:pPr indent="0" marL="0">
              <a:buNone/>
            </a:pPr>
            <a:r>
              <a:rPr lang="en-US" sz="4200" i="1" dirty="0">
                <a:solidFill>
                  <a:srgbClr val="C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Хабаровского края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сопровождения иностранных граждан, собственников жилья и работодателей при оформлении миграционных документов. Реализует задачи Указа Президента № 738 от 15.10.2025.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623560"/>
            <a:ext cx="1069848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С. Крюков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сервиса migrant-bot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5760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ПРЕЗЕНТАЦИЯ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для встречи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ЗАДАЧА · УКАЗ ПРЕЗИДЕНТА № 738 ОТ 15.10.2025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Четыре задачи,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которые нужно </a:t>
            </a:r>
            <a:pPr indent="0" marL="0">
              <a:buNone/>
            </a:pPr>
            <a:r>
              <a:rPr lang="en-US" sz="3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решить</a:t>
            </a:r>
            <a:pPr indent="0" marL="0">
              <a:buNone/>
            </a:pPr>
            <a:r>
              <a:rPr lang="en-US" sz="38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до 2030 года.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606040" cy="0"/>
          </a:xfrm>
          <a:prstGeom prst="line">
            <a:avLst/>
          </a:prstGeom>
          <a:noFill/>
          <a:ln w="12700">
            <a:solidFill>
              <a:srgbClr val="C49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Цифровизация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Миграционный учёт и сервисы для легальной миграции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017520"/>
            <a:ext cx="2606040" cy="0"/>
          </a:xfrm>
          <a:prstGeom prst="line">
            <a:avLst/>
          </a:prstGeom>
          <a:noFill/>
          <a:ln w="12700">
            <a:solidFill>
              <a:srgbClr val="C49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3520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Ответственность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4251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для работодателей и собственников жилья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606040" cy="0"/>
          </a:xfrm>
          <a:prstGeom prst="line">
            <a:avLst/>
          </a:prstGeom>
          <a:noFill/>
          <a:ln w="12700">
            <a:solidFill>
              <a:srgbClr val="C49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Теневая занятость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4251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Борьба с нелегальной миграцией и серыми посредниками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3017520"/>
            <a:ext cx="2606040" cy="0"/>
          </a:xfrm>
          <a:prstGeom prst="line">
            <a:avLst/>
          </a:prstGeom>
          <a:noFill/>
          <a:ln w="12700">
            <a:solidFill>
              <a:srgbClr val="C49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3520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Адаптация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0" y="4251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русскому языку, истории и законодательству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вопрос: </a:t>
            </a:r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каким инструментом закроет эти задачи на местах?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MIGRANT BOT · ПРЕЗЕНТАЦИЯ ПИЛОТА В ХАБАРОВСКОМ КРАЕ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 · ТРИ УЧАСТНИКА В ОДНОЙ СИСТЕМЕ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Мигрант, собственник жилья, работодатель —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роли, </a:t>
            </a:r>
            <a:pPr indent="0" marL="0">
              <a:buNone/>
            </a:pPr>
            <a:r>
              <a:rPr lang="en-US" sz="3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связанные 6-значным кодом.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МИГРАНТ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Иностранный работник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365760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паспорта и миграционной карты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Автозаполнение более 10 форм МВД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9 шагов на 30 дней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экзамена — 352 вопроса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языка интерфейса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СОБСТВЕННИК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196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Хозяин квартиры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3977640"/>
            <a:ext cx="365760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41148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7 полей — 2 минуты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6-значный код жильцу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Автозаполнение уведомления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штрафа 400–500 тыс.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жильцов и архив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РАБОТОДАТЕЛЬ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Наниматель работников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3977640"/>
            <a:ext cx="365760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1148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ИНН → данные из ФНС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6-значный код работнику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МВД-552 автоматически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 патента/НДФЛ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Массовые уведомления Excel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данные принимающей стороны автоматически появляются в бланках мигранта. Одна бумажная работа — без дублей, без ошибок, без посещения нотариуса.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MIGRANT BOT · ПРЕЗЕНТАЦИЯ ПИЛОТА В ХАБАРОВСКОМ КРАЕ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СООТВЕТСТВИЕ · ПУНКТЫ РАЗДЕЛА V УКАЗА № 738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Сервис реализует </a:t>
            </a:r>
            <a:pPr indent="0" marL="0">
              <a:buNone/>
            </a:pPr>
            <a:r>
              <a:rPr lang="en-US" sz="32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пунктов</a:t>
            </a:r>
            <a:pPr indent="0" marL="0">
              <a:buNone/>
            </a:pPr>
            <a:r>
              <a:rPr lang="en-US" sz="3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раздела V Концепции.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ПУНКТ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ЗАДАЧА ПО УКАЗУ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ДЕЛАЕТ MIGRANT BOT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(а)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услуг для легальной миграции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оформления через мессенджер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0"/>
          </a:xfrm>
          <a:prstGeom prst="line">
            <a:avLst/>
          </a:prstGeom>
          <a:noFill/>
          <a:ln w="5080">
            <a:solidFill>
              <a:srgbClr val="2A34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(ж)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эффективности адаптации мигрантов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на 352 вопроса · 4 языка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5080">
            <a:solidFill>
              <a:srgbClr val="2A34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(а)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и повышение ответственности работодателей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069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 · уведомления МВД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11247120" cy="0"/>
          </a:xfrm>
          <a:prstGeom prst="line">
            <a:avLst/>
          </a:prstGeom>
          <a:noFill/>
          <a:ln w="5080">
            <a:solidFill>
              <a:srgbClr val="2A34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(в)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Дистанционная подача · автоматизация документов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форм МВД в 1 клик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47120" cy="0"/>
          </a:xfrm>
          <a:prstGeom prst="line">
            <a:avLst/>
          </a:prstGeom>
          <a:noFill/>
          <a:ln w="5080">
            <a:solidFill>
              <a:srgbClr val="2A34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440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(а)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164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сервисы в субъектах РФ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5440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развёртыванию на базе края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 не проектируется под задачу — он уже сегодня её закрывает.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MIGRANT BOT · ПРЕЗЕНТАЦИЯ ПИЛОТА В ХАБАРОВСКОМ КРАЕ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ЭКОНОМИКА · ЧТО ДАЁТ БЮДЖЕТУ РЕГИОНА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патент = </a:t>
            </a:r>
            <a:pPr indent="0" marL="0">
              <a:buNone/>
            </a:pPr>
            <a:r>
              <a:rPr lang="en-US" sz="28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~6 000 ₽/мес</a:t>
            </a:r>
            <a:pPr indent="0" marL="0">
              <a:buNone/>
            </a:pPr>
            <a:r>
              <a:rPr lang="en-US" sz="28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НДФЛ в бюджет субъекта.</a:t>
            </a:r>
            <a:endParaRPr lang="en-US" sz="2800" dirty="0"/>
          </a:p>
          <a:p>
            <a:pPr indent="0" marL="0">
              <a:buNone/>
            </a:pPr>
            <a:r>
              <a:rPr lang="en-US" sz="2000" dirty="0">
                <a:solidFill>
                  <a:srgbClr val="C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удержанный в легальном поле мигрант — </a:t>
            </a:r>
            <a:pPr indent="0" marL="0">
              <a:buNone/>
            </a:pPr>
            <a:r>
              <a:rPr lang="en-US" sz="2000" i="1" dirty="0">
                <a:solidFill>
                  <a:srgbClr val="C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прямая бюджетная выручка.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3657600" cy="0"/>
          </a:xfrm>
          <a:prstGeom prst="line">
            <a:avLst/>
          </a:prstGeom>
          <a:noFill/>
          <a:ln w="19050">
            <a:solidFill>
              <a:srgbClr val="C49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 млрд ₽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регионам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НДФЛ от патентов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2024 году (+40% к 2023)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ГУВМ МВД России, ПМЭФ-2025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2651760"/>
            <a:ext cx="3657600" cy="0"/>
          </a:xfrm>
          <a:prstGeom prst="line">
            <a:avLst/>
          </a:prstGeom>
          <a:noFill/>
          <a:ln w="19050">
            <a:solidFill>
              <a:srgbClr val="C49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млрд ₽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519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5 мес.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поступлений на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к 2024 году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19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Открытые данные за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657600" cy="0"/>
          </a:xfrm>
          <a:prstGeom prst="line">
            <a:avLst/>
          </a:prstGeom>
          <a:noFill/>
          <a:ln w="19050">
            <a:solidFill>
              <a:srgbClr val="C49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 млн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0467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протоколов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Административных по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мигрантам в 2024 (+48%)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Статистика ГУВМ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5080F"/>
          </a:solidFill>
          <a:ln w="3810">
            <a:solidFill>
              <a:srgbClr val="C49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961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49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выгоды: </a:t>
            </a:r>
            <a:pPr indent="0" marL="0">
              <a:buNone/>
            </a:pPr>
            <a:r>
              <a:rPr lang="en-US" sz="12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мигрант, не ушедший в тень благодаря удобному инструменту, — это НДФЛ в бюджет края и меньше протоколов по линии МВД. </a:t>
            </a:r>
            <a:pPr indent="0" marL="0">
              <a:buNone/>
            </a:pPr>
            <a:r>
              <a:rPr lang="en-US" sz="12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— инструмент легализации, а не благотворительность.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MIGRANT BOT · ПРЕЗЕНТАЦИЯ ПИЛОТА В ХАБАРОВСКОМ КРАЕ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СТАТУС ПРОДУКТА · ГОТОВНОСТЬ К ПИЛОТУ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</a:t>
            </a:r>
            <a:pPr indent="0" marL="0">
              <a:buNone/>
            </a:pPr>
            <a:r>
              <a:rPr lang="en-US" sz="30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завершена.</a:t>
            </a:r>
            <a:pPr indent="0" marL="0">
              <a:buNone/>
            </a:pPr>
            <a:r>
              <a:rPr lang="en-US" sz="30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Опытная эксплуатация — в MAX.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02920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 на Timeweb Cloud (РФ)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Доступен в мессенджере MAX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— в российской юрисдикции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10 автозаполняемых форм МВД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экзамена — 352 вопроса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языка (RU · UZ · TJ · KG)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связей мигрант↔хозяин↔работодатель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НУЖНО ОТ КРАЯ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2423160"/>
            <a:ext cx="557784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651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Рабочая группа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человек: Минцифры края, Комитет по труду, УВМ МВД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Район для пилота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район Хабаровска или Комсомольска-на-Амуре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389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Информационная поддержка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 через МФЦ, центры «Мой бизнес», СМИ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5257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Обратная связь через 3 мес.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метрик, решение о масштабировании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124712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СРОК ЗАПУСКА: </a:t>
            </a:r>
            <a:pPr indent="0" marL="0">
              <a:buNone/>
            </a:pPr>
            <a:r>
              <a:rPr lang="en-US" sz="1300" dirty="0">
                <a:solidFill>
                  <a:srgbClr val="F2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дней с момента согласования формата пилота.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MIGRANT BOT · ПРЕЗЕНТАЦИЯ ПИЛОТА В ХАБАРОВСКОМ КРАЕ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0" cy="5943600"/>
          </a:xfrm>
          <a:prstGeom prst="line">
            <a:avLst/>
          </a:prstGeom>
          <a:noFill/>
          <a:ln w="9525">
            <a:solidFill>
              <a:srgbClr val="C49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ГОТОВ К ВСТРЕЧЕ И ДЕМОНСТРАЦИИ ПРОДУКТА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Мигрант, оставшийся</a:t>
            </a:r>
            <a:endParaRPr lang="en-US" sz="4600" dirty="0"/>
          </a:p>
          <a:p>
            <a:pPr indent="0" marL="0">
              <a:buNone/>
            </a:pPr>
            <a:r>
              <a:rPr lang="en-US" sz="46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правовом поле, —</a:t>
            </a:r>
            <a:endParaRPr lang="en-US" sz="4600" dirty="0"/>
          </a:p>
          <a:p>
            <a:pPr indent="0" marL="0">
              <a:buNone/>
            </a:pPr>
            <a:r>
              <a:rPr lang="en-US" sz="4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бюджетная статья</a:t>
            </a:r>
            <a:endParaRPr lang="en-US" sz="4600" dirty="0"/>
          </a:p>
          <a:p>
            <a:pPr indent="0" marL="0">
              <a:buNone/>
            </a:pPr>
            <a:r>
              <a:rPr lang="en-US" sz="4600" i="1" dirty="0">
                <a:solidFill>
                  <a:srgbClr val="C49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 знаком плюс.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10698480" cy="0"/>
          </a:xfrm>
          <a:prstGeom prst="line">
            <a:avLst/>
          </a:prstGeom>
          <a:noFill/>
          <a:ln w="6350">
            <a:solidFill>
              <a:srgbClr val="C49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РАЗРАБОТЧИК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2200" dirty="0">
                <a:solidFill>
                  <a:srgbClr val="F2EB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А. С. Крюков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Хабаровск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49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СВЯЗЬ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800" dirty="0">
                <a:solidFill>
                  <a:srgbClr val="F2E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+7 914 316 78 61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2E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Kryukov_27rus@mail.ru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4B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 в MAX: max.ru/id270604730144_1_bot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Migrant Bot — Хабаровский край</dc:title>
  <dc:subject>PptxGenJS Presentation</dc:subject>
  <dc:creator>А. С. Крюков</dc:creator>
  <cp:lastModifiedBy>А. С. Крюков</cp:lastModifiedBy>
  <cp:revision>1</cp:revision>
  <dcterms:created xsi:type="dcterms:W3CDTF">2026-04-21T10:32:42Z</dcterms:created>
  <dcterms:modified xsi:type="dcterms:W3CDTF">2026-04-21T10:32:42Z</dcterms:modified>
</cp:coreProperties>
</file>